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0" r:id="rId4"/>
    <p:sldId id="261" r:id="rId5"/>
    <p:sldId id="262" r:id="rId6"/>
    <p:sldId id="263" r:id="rId7"/>
    <p:sldId id="264"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60"/>
            <p14:sldId id="261"/>
            <p14:sldId id="262"/>
            <p14:sldId id="263"/>
            <p14:sldId id="264"/>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 dt="2026-10-07T17:18:47.984"/>
    <p1510:client id="{2A52E319-2B05-4CB4-15AA-4EA4DC306DEF}" v="34" dt="2026-10-07T17:19:24.991"/>
    <p1510:client id="{354F70E9-5649-99DC-8A21-F43FD353F665}" v="418" dt="2026-10-09T14:28:41.678"/>
    <p1510:client id="{FCC1835F-43F5-0B28-D5D2-BEFCB72824C5}" v="322" dt="2026-10-08T14:36:00.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FE19E8F-3F52-4F8D-B03A-1450046799FB}" type="datetimeFigureOut">
              <a:t>10/9/2026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913537C-200E-41AB-ABEF-BDB1BAACBEA1}" type="slidenum">
              <a:t>‹#›</a:t>
            </a:fld>
            <a:endParaRPr lang="en-US"/>
          </a:p>
        </p:txBody>
      </p:sp>
    </p:spTree>
    <p:extLst>
      <p:ext uri="{BB962C8B-B14F-4D97-AF65-F5344CB8AC3E}">
        <p14:creationId xmlns:p14="http://schemas.microsoft.com/office/powerpoint/2010/main" val="3215300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a:solidFill>
                  <a:schemeClr val="accent6"/>
                </a:solidFill>
              </a:rPr>
              <a:t>Genesis Ideathon – Pre-Ideathon Template</a:t>
            </a:r>
            <a:endParaRPr lang="en-US" sz="105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a:solidFill>
                  <a:schemeClr val="tx2"/>
                </a:solidFill>
                <a:latin typeface="Cambria" pitchFamily="34" charset="0"/>
                <a:ea typeface="Cambria" pitchFamily="34" charset="-122"/>
                <a:cs typeface="Cambria" pitchFamily="34" charset="-120"/>
              </a:rPr>
              <a:t>SLIDE TITLE</a:t>
            </a:r>
            <a:endParaRPr lang="en-US" sz="24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a:solidFill>
                  <a:schemeClr val="accent3"/>
                </a:solidFill>
              </a:rPr>
              <a:t>PRE-IDEATHON TEMPLATE</a:t>
            </a:r>
            <a:endParaRPr lang="en-US" sz="120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a:solidFill>
                  <a:schemeClr val="bg1"/>
                </a:solidFill>
                <a:latin typeface="Cambria" pitchFamily="34" charset="0"/>
                <a:ea typeface="Cambria" pitchFamily="34" charset="-122"/>
                <a:cs typeface="Cambria" pitchFamily="34" charset="-120"/>
              </a:rPr>
              <a:t>GENESIS</a:t>
            </a:r>
            <a:endParaRPr lang="en-US" sz="5400"/>
          </a:p>
          <a:p>
            <a:pPr marL="0" indent="0">
              <a:lnSpc>
                <a:spcPct val="90000"/>
              </a:lnSpc>
              <a:buNone/>
            </a:pPr>
            <a:r>
              <a:rPr lang="en-US" sz="5400" b="1" kern="0" spc="200">
                <a:solidFill>
                  <a:schemeClr val="accent3"/>
                </a:solidFill>
                <a:latin typeface="Cambria" pitchFamily="34" charset="0"/>
                <a:ea typeface="Cambria" pitchFamily="34" charset="-122"/>
                <a:cs typeface="Cambria" pitchFamily="34" charset="-120"/>
              </a:rPr>
              <a:t>IDEATHON</a:t>
            </a:r>
            <a:endParaRPr lang="en-US" sz="5400"/>
          </a:p>
        </p:txBody>
      </p:sp>
      <p:sp>
        <p:nvSpPr>
          <p:cNvPr id="13" name="Section Chip"/>
          <p:cNvSpPr/>
          <p:nvPr/>
        </p:nvSpPr>
        <p:spPr>
          <a:xfrm>
            <a:off x="548640" y="2275007"/>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a:solidFill>
                  <a:schemeClr val="bg1"/>
                </a:solidFill>
              </a:rPr>
              <a:t>TEAM &amp; DOMAIN</a:t>
            </a:r>
            <a:endParaRPr lang="en-US" sz="1300"/>
          </a:p>
        </p:txBody>
      </p:sp>
      <p:sp>
        <p:nvSpPr>
          <p:cNvPr id="14" name="Cover Lead"/>
          <p:cNvSpPr txBox="1"/>
          <p:nvPr/>
        </p:nvSpPr>
        <p:spPr>
          <a:xfrm>
            <a:off x="548640" y="2777927"/>
            <a:ext cx="5669280" cy="365760"/>
          </a:xfrm>
          <a:prstGeom prst="rect">
            <a:avLst/>
          </a:prstGeom>
          <a:noFill/>
          <a:ln/>
        </p:spPr>
        <p:txBody>
          <a:bodyPr wrap="square" lIns="0" tIns="0" rIns="0" bIns="0" rtlCol="0" anchor="ctr"/>
          <a:lstStyle/>
          <a:p>
            <a:pPr marL="0" indent="0">
              <a:buNone/>
            </a:pPr>
            <a:r>
              <a:rPr lang="en-US" sz="1600" i="1">
                <a:solidFill>
                  <a:schemeClr val="accent6"/>
                </a:solidFill>
              </a:rPr>
              <a:t>Introduce your team and the domain you have chosen</a:t>
            </a:r>
            <a:endParaRPr lang="en-US" sz="1600"/>
          </a:p>
        </p:txBody>
      </p:sp>
      <p:sp>
        <p:nvSpPr>
          <p:cNvPr id="15" name="Cover Fields"/>
          <p:cNvSpPr txBox="1"/>
          <p:nvPr/>
        </p:nvSpPr>
        <p:spPr>
          <a:xfrm>
            <a:off x="417219" y="3138709"/>
            <a:ext cx="6123203" cy="3454569"/>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a:solidFill>
                  <a:schemeClr val="bg1"/>
                </a:solidFill>
              </a:rPr>
              <a:t>Team Name –</a:t>
            </a:r>
            <a:r>
              <a:rPr lang="en-US">
                <a:solidFill>
                  <a:schemeClr val="bg1"/>
                </a:solidFill>
              </a:rPr>
              <a:t> Syntax Terror</a:t>
            </a:r>
            <a:endParaRPr lang="en-US" sz="1800"/>
          </a:p>
          <a:p>
            <a:pPr marL="279400" indent="-279400">
              <a:spcAft>
                <a:spcPts val="1400"/>
              </a:spcAft>
              <a:buClr>
                <a:schemeClr val="accent3"/>
              </a:buClr>
              <a:buSzPct val="100000"/>
              <a:buFont typeface="Arial"/>
              <a:buChar char="•"/>
            </a:pPr>
            <a:r>
              <a:rPr lang="en-US" sz="1800" dirty="0">
                <a:solidFill>
                  <a:schemeClr val="bg1"/>
                </a:solidFill>
              </a:rPr>
              <a:t>Team Members –</a:t>
            </a:r>
            <a:r>
              <a:rPr lang="en-US" dirty="0">
                <a:solidFill>
                  <a:schemeClr val="bg1"/>
                </a:solidFill>
              </a:rPr>
              <a:t> </a:t>
            </a:r>
            <a:r>
              <a:rPr lang="en-US" dirty="0" err="1">
                <a:solidFill>
                  <a:schemeClr val="bg1"/>
                </a:solidFill>
              </a:rPr>
              <a:t>Lakshieth</a:t>
            </a:r>
            <a:r>
              <a:rPr lang="en-US" dirty="0">
                <a:solidFill>
                  <a:schemeClr val="bg1"/>
                </a:solidFill>
              </a:rPr>
              <a:t> K </a:t>
            </a:r>
            <a:r>
              <a:rPr lang="en-US" dirty="0" err="1">
                <a:solidFill>
                  <a:schemeClr val="bg1"/>
                </a:solidFill>
              </a:rPr>
              <a:t>K</a:t>
            </a:r>
            <a:r>
              <a:rPr lang="en-US" dirty="0">
                <a:solidFill>
                  <a:schemeClr val="bg1"/>
                </a:solidFill>
              </a:rPr>
              <a:t> - [CB.SC.U4CSE26134] </a:t>
            </a:r>
            <a:endParaRPr lang="en-US" dirty="0">
              <a:solidFill>
                <a:schemeClr val="bg1"/>
              </a:solidFill>
              <a:ea typeface="Calibri"/>
              <a:cs typeface="Calibri"/>
            </a:endParaRPr>
          </a:p>
          <a:p>
            <a:pPr>
              <a:spcAft>
                <a:spcPts val="1400"/>
              </a:spcAft>
              <a:buClr>
                <a:schemeClr val="accent3"/>
              </a:buClr>
              <a:buSzPct val="100000"/>
            </a:pPr>
            <a:r>
              <a:rPr lang="en-US" dirty="0">
                <a:solidFill>
                  <a:schemeClr val="bg1"/>
                </a:solidFill>
              </a:rPr>
              <a:t>                                     </a:t>
            </a:r>
            <a:r>
              <a:rPr lang="en-US" dirty="0" err="1">
                <a:solidFill>
                  <a:schemeClr val="bg1"/>
                </a:solidFill>
              </a:rPr>
              <a:t>Guhannathan</a:t>
            </a:r>
            <a:r>
              <a:rPr lang="en-US" dirty="0">
                <a:solidFill>
                  <a:schemeClr val="bg1"/>
                </a:solidFill>
              </a:rPr>
              <a:t> B L - [CB.SC.U4CSE26170]</a:t>
            </a:r>
            <a:endParaRPr lang="en-US" dirty="0">
              <a:solidFill>
                <a:schemeClr val="bg1"/>
              </a:solidFill>
              <a:ea typeface="Calibri"/>
              <a:cs typeface="Calibri"/>
            </a:endParaRPr>
          </a:p>
          <a:p>
            <a:pPr>
              <a:spcAft>
                <a:spcPts val="1400"/>
              </a:spcAft>
              <a:buClr>
                <a:schemeClr val="accent3"/>
              </a:buClr>
              <a:buSzPct val="100000"/>
            </a:pPr>
            <a:r>
              <a:rPr lang="en-US">
                <a:solidFill>
                  <a:schemeClr val="bg1"/>
                </a:solidFill>
              </a:rPr>
              <a:t>                                     Dharun B - [CB.SC.U4CSE26118]</a:t>
            </a:r>
            <a:endParaRPr lang="en-US">
              <a:solidFill>
                <a:schemeClr val="bg1"/>
              </a:solidFill>
              <a:ea typeface="Calibri"/>
              <a:cs typeface="Calibri"/>
            </a:endParaRPr>
          </a:p>
          <a:p>
            <a:pPr>
              <a:spcAft>
                <a:spcPts val="1400"/>
              </a:spcAft>
              <a:buClr>
                <a:schemeClr val="accent3"/>
              </a:buClr>
              <a:buSzPct val="100000"/>
            </a:pPr>
            <a:r>
              <a:rPr lang="en-US">
                <a:solidFill>
                  <a:schemeClr val="bg1"/>
                </a:solidFill>
              </a:rPr>
              <a:t>                                     Tejesh Satya- [CB.SC.U4CSE26137]</a:t>
            </a:r>
            <a:endParaRPr lang="en-US" sz="1800">
              <a:solidFill>
                <a:schemeClr val="bg1"/>
              </a:solidFill>
              <a:ea typeface="Calibri"/>
              <a:cs typeface="Calibri"/>
            </a:endParaRPr>
          </a:p>
          <a:p>
            <a:pPr marL="279400" indent="-279400">
              <a:spcAft>
                <a:spcPts val="1400"/>
              </a:spcAft>
              <a:buClr>
                <a:schemeClr val="accent3"/>
              </a:buClr>
              <a:buSzPct val="100000"/>
              <a:buFont typeface="Arial"/>
              <a:buChar char="•"/>
            </a:pPr>
            <a:r>
              <a:rPr lang="en-US" sz="1800">
                <a:solidFill>
                  <a:schemeClr val="bg1"/>
                </a:solidFill>
              </a:rPr>
              <a:t>Selected Domain –</a:t>
            </a:r>
            <a:r>
              <a:rPr lang="en-US">
                <a:solidFill>
                  <a:schemeClr val="bg1"/>
                </a:solidFill>
              </a:rPr>
              <a:t> </a:t>
            </a:r>
            <a:r>
              <a:rPr lang="en-US">
                <a:solidFill>
                  <a:schemeClr val="bg1"/>
                </a:solidFill>
                <a:ea typeface="+mn-lt"/>
                <a:cs typeface="+mn-lt"/>
              </a:rPr>
              <a:t>Domain 1: Intelligent Systems &amp; Digital Futures.</a:t>
            </a:r>
            <a:endParaRPr lang="en-US" sz="1800">
              <a:solidFill>
                <a:schemeClr val="bg1"/>
              </a:solidFill>
              <a:ea typeface="+mn-lt"/>
              <a:cs typeface="+mn-lt"/>
            </a:endParaRPr>
          </a:p>
          <a:p>
            <a:pPr marL="279400" indent="-279400">
              <a:spcAft>
                <a:spcPts val="1400"/>
              </a:spcAft>
              <a:buClr>
                <a:schemeClr val="accent3"/>
              </a:buClr>
              <a:buSzPct val="100000"/>
              <a:buFont typeface="Arial"/>
              <a:buChar char="•"/>
            </a:pPr>
            <a:r>
              <a:rPr lang="en-US" sz="1800">
                <a:solidFill>
                  <a:schemeClr val="bg1"/>
                </a:solidFill>
              </a:rPr>
              <a:t>Problem Statement –</a:t>
            </a:r>
            <a:r>
              <a:rPr lang="en-US">
                <a:solidFill>
                  <a:schemeClr val="bg1"/>
                </a:solidFill>
                <a:ea typeface="+mn-lt"/>
                <a:cs typeface="+mn-lt"/>
              </a:rPr>
              <a:t> Voice notes are effortless to send, but completely impossible to search, organize, or retrieve.</a:t>
            </a:r>
            <a:endParaRPr lang="en-US" sz="1800">
              <a:solidFill>
                <a:schemeClr val="bg1"/>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DOMAIN PROBLEM IN OUR WORDS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ea typeface="Calibri"/>
                <a:cs typeface="Calibri"/>
              </a:rPr>
              <a:t>Syntax Terror</a:t>
            </a:r>
          </a:p>
        </p:txBody>
      </p:sp>
      <p:sp>
        <p:nvSpPr>
          <p:cNvPr id="7" name="Lead Icon Hex"/>
          <p:cNvSpPr/>
          <p:nvPr/>
        </p:nvSpPr>
        <p:spPr>
          <a:xfrm>
            <a:off x="554938" y="1129272"/>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6378" y="1195919"/>
            <a:ext cx="274320" cy="274320"/>
          </a:xfrm>
          <a:prstGeom prst="rect">
            <a:avLst/>
          </a:prstGeom>
        </p:spPr>
      </p:pic>
      <p:sp>
        <p:nvSpPr>
          <p:cNvPr id="9" name="Lead Text"/>
          <p:cNvSpPr txBox="1"/>
          <p:nvPr/>
        </p:nvSpPr>
        <p:spPr>
          <a:xfrm>
            <a:off x="1151539" y="1077254"/>
            <a:ext cx="9601200" cy="502920"/>
          </a:xfrm>
          <a:prstGeom prst="rect">
            <a:avLst/>
          </a:prstGeom>
          <a:noFill/>
          <a:ln/>
        </p:spPr>
        <p:txBody>
          <a:bodyPr wrap="square" lIns="0" tIns="0" rIns="0" bIns="0" rtlCol="0" anchor="ctr"/>
          <a:lstStyle/>
          <a:p>
            <a:r>
              <a:rPr lang="en-US" b="1">
                <a:solidFill>
                  <a:schemeClr val="accent2"/>
                </a:solidFill>
                <a:ea typeface="Calibri"/>
                <a:cs typeface="Calibri"/>
              </a:rPr>
              <a:t>Problem Statement Explanation</a:t>
            </a:r>
            <a:endParaRPr lang="en-US" sz="1800" b="1">
              <a:solidFill>
                <a:schemeClr val="accent2"/>
              </a:solidFill>
              <a:ea typeface="Calibri"/>
              <a:cs typeface="Calibri"/>
            </a:endParaRPr>
          </a:p>
        </p:txBody>
      </p:sp>
      <p:sp>
        <p:nvSpPr>
          <p:cNvPr id="10" name="Prompts"/>
          <p:cNvSpPr txBox="1"/>
          <p:nvPr/>
        </p:nvSpPr>
        <p:spPr>
          <a:xfrm>
            <a:off x="908248" y="1467984"/>
            <a:ext cx="10376957" cy="1485427"/>
          </a:xfrm>
          <a:prstGeom prst="rect">
            <a:avLst/>
          </a:prstGeom>
          <a:noFill/>
          <a:ln/>
        </p:spPr>
        <p:txBody>
          <a:bodyPr wrap="square" lIns="0" tIns="0" rIns="0" bIns="0" rtlCol="0" anchor="t"/>
          <a:lstStyle/>
          <a:p>
            <a:pPr marL="279400" indent="-279400">
              <a:spcAft>
                <a:spcPts val="1000"/>
              </a:spcAft>
              <a:buClr>
                <a:schemeClr val="accent1"/>
              </a:buClr>
              <a:buSzPct val="100000"/>
              <a:buFont typeface="Arial"/>
              <a:buChar char="•"/>
            </a:pPr>
            <a:r>
              <a:rPr lang="en-US" dirty="0">
                <a:solidFill>
                  <a:srgbClr val="0E2A2F"/>
                </a:solidFill>
                <a:ea typeface="+mn-lt"/>
                <a:cs typeface="+mn-lt"/>
              </a:rPr>
              <a:t>In the Intelligent Systems and Digital Futures domain the problem is straightforward. Voice notes are a one way communication tool. We send WhatsApp audio constantly for college projects because it’s fast and easy to record . For the person receiving it it’s a big hassle. Once that audio file lands in your chat it disappears into a hole. You can’t search it. You can’t jump to the part where someone mentioned a deadline or a lab requirement. If someone sends a two minute voice note that says "the submission is due </a:t>
            </a:r>
            <a:r>
              <a:rPr lang="en-US" dirty="0" err="1">
                <a:solidFill>
                  <a:srgbClr val="0E2A2F"/>
                </a:solidFill>
                <a:ea typeface="+mn-lt"/>
                <a:cs typeface="+mn-lt"/>
              </a:rPr>
              <a:t>friday</a:t>
            </a:r>
            <a:r>
              <a:rPr lang="en-US" dirty="0">
                <a:solidFill>
                  <a:srgbClr val="0E2A2F"/>
                </a:solidFill>
                <a:ea typeface="+mn-lt"/>
                <a:cs typeface="+mn-lt"/>
              </a:rPr>
              <a:t> " you can’t just type "submission" and find it. You have to listen all the way maybe even replay it multiple times.</a:t>
            </a:r>
            <a:endParaRPr lang="en-US" dirty="0">
              <a:solidFill>
                <a:srgbClr val="0E2A2F"/>
              </a:solidFill>
              <a:ea typeface="Calibri"/>
              <a:cs typeface="Calibri"/>
            </a:endParaRPr>
          </a:p>
          <a:p>
            <a:pPr marL="279400" indent="-279400">
              <a:spcAft>
                <a:spcPts val="1000"/>
              </a:spcAft>
              <a:buClr>
                <a:schemeClr val="accent1"/>
              </a:buClr>
              <a:buSzPct val="100000"/>
              <a:buFontTx/>
              <a:buChar char="•"/>
            </a:pPr>
            <a:r>
              <a:rPr lang="en-US" b="1" dirty="0">
                <a:solidFill>
                  <a:srgbClr val="0E2A2F"/>
                </a:solidFill>
                <a:ea typeface="+mn-lt"/>
                <a:cs typeface="+mn-lt"/>
              </a:rPr>
              <a:t>What needs to be solved ?</a:t>
            </a:r>
            <a:r>
              <a:rPr lang="en-US" dirty="0">
                <a:solidFill>
                  <a:srgbClr val="0E2A2F"/>
                </a:solidFill>
                <a:ea typeface="+mn-lt"/>
                <a:cs typeface="+mn-lt"/>
              </a:rPr>
              <a:t> We need a way to search voice messages like we search text. We need a search bar feature for audio. It has to be private. The tool must take your voice files already on your own computer and turn the speech into text. It should tag the timestamp for every word. So when you type "lab requirement " it finds the voice note. Takes you right to the moment that phrase was spoken. The key is that everything must run on your laptop. No uploading your audio no sending your chats to a server no sharing your data with AI tools.</a:t>
            </a:r>
            <a:endParaRPr lang="en-US" dirty="0">
              <a:ea typeface="Calibri"/>
              <a:cs typeface="Calibri"/>
            </a:endParaRPr>
          </a:p>
          <a:p>
            <a:pPr marL="279400" indent="-279400">
              <a:spcAft>
                <a:spcPts val="1000"/>
              </a:spcAft>
              <a:buClr>
                <a:schemeClr val="accent1"/>
              </a:buClr>
              <a:buSzPct val="100000"/>
              <a:buFontTx/>
              <a:buChar char="•"/>
            </a:pPr>
            <a:r>
              <a:rPr lang="en-US" b="1" dirty="0">
                <a:solidFill>
                  <a:srgbClr val="0E2A2F"/>
                </a:solidFill>
                <a:ea typeface="+mn-lt"/>
                <a:cs typeface="+mn-lt"/>
              </a:rPr>
              <a:t>Why does this matter now ?</a:t>
            </a:r>
            <a:r>
              <a:rPr lang="en-US" dirty="0">
                <a:solidFill>
                  <a:srgbClr val="0E2A2F"/>
                </a:solidFill>
                <a:ea typeface="+mn-lt"/>
                <a:cs typeface="+mn-lt"/>
              </a:rPr>
              <a:t> Because voice messaging is everywhere. People use it all the time students use it to pass notes share updates and talk about assignments. Trying to find a single detail in a long voice note is exhausting. It’s like searching for a needle in a haystack. With how much personal data is at risk people are scared to use cloud based tools. They don’t want their private conversations going to some third-party app. This tool fixes a daily annoyance while keeping your data completely safe and, under your control.</a:t>
            </a:r>
            <a:endParaRPr lang="en-US" dirty="0">
              <a:ea typeface="Calibri"/>
              <a:cs typeface="Calibri"/>
            </a:endParaRPr>
          </a:p>
          <a:p>
            <a:pPr marL="279400" indent="-279400">
              <a:spcAft>
                <a:spcPts val="1000"/>
              </a:spcAft>
              <a:buClr>
                <a:schemeClr val="accent1"/>
              </a:buClr>
              <a:buSzPct val="100000"/>
              <a:buChar char="•"/>
            </a:pP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ea typeface="+mn-lt"/>
                <a:cs typeface="+mn-lt"/>
              </a:rPr>
              <a:t>Syntax Terror</a:t>
            </a:r>
            <a:endParaRPr lang="en-US" sz="1500">
              <a:solidFill>
                <a:schemeClr val="accent1"/>
              </a:solidFill>
              <a:ea typeface="+mn-lt"/>
              <a:cs typeface="+mn-lt"/>
            </a:endParaRPr>
          </a:p>
        </p:txBody>
      </p:sp>
      <p:sp>
        <p:nvSpPr>
          <p:cNvPr id="7" name="Lead Icon Hex"/>
          <p:cNvSpPr/>
          <p:nvPr/>
        </p:nvSpPr>
        <p:spPr>
          <a:xfrm>
            <a:off x="548640" y="1206792"/>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267142"/>
            <a:ext cx="274320" cy="274320"/>
          </a:xfrm>
          <a:prstGeom prst="rect">
            <a:avLst/>
          </a:prstGeom>
        </p:spPr>
      </p:pic>
      <p:sp>
        <p:nvSpPr>
          <p:cNvPr id="9" name="Lead Text"/>
          <p:cNvSpPr txBox="1"/>
          <p:nvPr/>
        </p:nvSpPr>
        <p:spPr>
          <a:xfrm>
            <a:off x="1150202" y="1154329"/>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82167" y="1541938"/>
            <a:ext cx="10424160" cy="1645920"/>
          </a:xfrm>
          <a:prstGeom prst="rect">
            <a:avLst/>
          </a:prstGeom>
          <a:noFill/>
          <a:ln/>
        </p:spPr>
        <p:txBody>
          <a:bodyPr wrap="square" lIns="0" tIns="0" rIns="0" bIns="0" rtlCol="0" anchor="t"/>
          <a:lstStyle/>
          <a:p>
            <a:r>
              <a:rPr lang="en-US" sz="1550" b="1" dirty="0">
                <a:ea typeface="+mn-lt"/>
                <a:cs typeface="+mn-lt"/>
              </a:rPr>
              <a:t>Primary users / target group :</a:t>
            </a:r>
            <a:endParaRPr lang="en-US" sz="1550" b="1" dirty="0">
              <a:ea typeface="Calibri"/>
              <a:cs typeface="Calibri"/>
            </a:endParaRPr>
          </a:p>
          <a:p>
            <a:endParaRPr lang="en-US" sz="1550" dirty="0">
              <a:ea typeface="Calibri"/>
              <a:cs typeface="Calibri"/>
            </a:endParaRPr>
          </a:p>
          <a:p>
            <a:pPr marL="285750" indent="-285750">
              <a:buFont typeface="Arial"/>
              <a:buChar char="•"/>
            </a:pPr>
            <a:r>
              <a:rPr lang="en-US" sz="1550">
                <a:ea typeface="+mn-lt"/>
                <a:cs typeface="+mn-lt"/>
              </a:rPr>
              <a:t>College students who depend on WhatsApp groups to coordinate projects and plan club events. They also need to share and receive last minute updates about exams.</a:t>
            </a:r>
            <a:endParaRPr lang="en-US" sz="1550" dirty="0">
              <a:ea typeface="Calibri"/>
              <a:cs typeface="Calibri"/>
            </a:endParaRPr>
          </a:p>
          <a:p>
            <a:pPr marL="285750" indent="-285750">
              <a:buFont typeface="Arial"/>
              <a:buChar char="•"/>
            </a:pPr>
            <a:r>
              <a:rPr lang="en-US" sz="1550">
                <a:ea typeface="+mn-lt"/>
                <a:cs typeface="+mn-lt"/>
              </a:rPr>
              <a:t>Small business owners who often receive client orders or feedback as voice notes. These messages can be long and hard to process quickly.</a:t>
            </a:r>
            <a:endParaRPr lang="en-US" sz="1550" dirty="0">
              <a:ea typeface="Calibri"/>
              <a:cs typeface="Calibri"/>
            </a:endParaRPr>
          </a:p>
          <a:p>
            <a:pPr marL="285750" indent="-285750">
              <a:buFont typeface="Arial"/>
              <a:buChar char="•"/>
            </a:pPr>
            <a:r>
              <a:rPr lang="en-US" sz="1550" dirty="0">
                <a:ea typeface="+mn-lt"/>
                <a:cs typeface="+mn-lt"/>
              </a:rPr>
              <a:t>Basically anyone who uses messaging apps for school or work and frequently deals with audio messages.</a:t>
            </a:r>
            <a:endParaRPr lang="en-US" sz="1550" dirty="0">
              <a:ea typeface="Calibri"/>
              <a:cs typeface="Calibri"/>
            </a:endParaRPr>
          </a:p>
          <a:p>
            <a:endParaRPr lang="en-US" sz="1550" dirty="0">
              <a:ea typeface="Calibri"/>
              <a:cs typeface="Calibri"/>
            </a:endParaRPr>
          </a:p>
          <a:p>
            <a:r>
              <a:rPr lang="en-US" sz="1550" b="1">
                <a:ea typeface="+mn-lt"/>
                <a:cs typeface="+mn-lt"/>
              </a:rPr>
              <a:t>Secondary stakeholders :</a:t>
            </a:r>
            <a:endParaRPr lang="en-US" sz="1550" b="1" dirty="0">
              <a:ea typeface="Calibri"/>
              <a:cs typeface="Calibri"/>
            </a:endParaRPr>
          </a:p>
          <a:p>
            <a:endParaRPr lang="en-US" sz="1550" dirty="0">
              <a:ea typeface="Calibri"/>
              <a:cs typeface="Calibri"/>
            </a:endParaRPr>
          </a:p>
          <a:p>
            <a:pPr marL="285750" indent="-285750">
              <a:buFont typeface="Arial"/>
              <a:buChar char="•"/>
            </a:pPr>
            <a:r>
              <a:rPr lang="en-US" sz="1550">
                <a:ea typeface="+mn-lt"/>
                <a:cs typeface="+mn-lt"/>
              </a:rPr>
              <a:t>The messaging platforms themselves like WhatsApp or Meta because this tool works well within their export features. It strengthens the ecosystem around these platforms.</a:t>
            </a:r>
            <a:endParaRPr lang="en-US" sz="1550" dirty="0">
              <a:ea typeface="Calibri"/>
              <a:cs typeface="Calibri"/>
            </a:endParaRPr>
          </a:p>
          <a:p>
            <a:pPr marL="285750" indent="-285750">
              <a:buFont typeface="Arial"/>
              <a:buChar char="•"/>
            </a:pPr>
            <a:r>
              <a:rPr lang="en-US" sz="1550" dirty="0">
                <a:ea typeface="+mn-lt"/>
                <a:cs typeface="+mn-lt"/>
              </a:rPr>
              <a:t>Data privacy regulators, since this project shows that sensitive user data can be handled locally. </a:t>
            </a:r>
            <a:r>
              <a:rPr lang="en-US" sz="1550">
                <a:ea typeface="+mn-lt"/>
                <a:cs typeface="+mn-lt"/>
              </a:rPr>
              <a:t>There is</a:t>
            </a:r>
            <a:r>
              <a:rPr lang="en-US" sz="1550" dirty="0">
                <a:ea typeface="+mn-lt"/>
                <a:cs typeface="+mn-lt"/>
              </a:rPr>
              <a:t> no need to upload anything to the cloud, which reduces risk.</a:t>
            </a:r>
            <a:endParaRPr lang="en-US" sz="1550" dirty="0">
              <a:ea typeface="Calibri"/>
              <a:cs typeface="Calibri"/>
            </a:endParaRPr>
          </a:p>
          <a:p>
            <a:endParaRPr lang="en-US" sz="1550" b="1" dirty="0">
              <a:ea typeface="Calibri"/>
              <a:cs typeface="Calibri"/>
            </a:endParaRPr>
          </a:p>
          <a:p>
            <a:r>
              <a:rPr lang="en-US" sz="1550" b="1">
                <a:ea typeface="+mn-lt"/>
                <a:cs typeface="+mn-lt"/>
              </a:rPr>
              <a:t>Who benefits if the problem is solved?</a:t>
            </a:r>
            <a:endParaRPr lang="en-US" sz="1550" b="1" dirty="0">
              <a:ea typeface="Calibri"/>
              <a:cs typeface="Calibri"/>
            </a:endParaRPr>
          </a:p>
          <a:p>
            <a:endParaRPr lang="en-US" sz="1550" dirty="0">
              <a:ea typeface="Calibri"/>
              <a:cs typeface="Calibri"/>
            </a:endParaRPr>
          </a:p>
          <a:p>
            <a:pPr>
              <a:spcAft>
                <a:spcPts val="1000"/>
              </a:spcAft>
            </a:pPr>
            <a:r>
              <a:rPr lang="en-US" sz="1550" dirty="0">
                <a:ea typeface="+mn-lt"/>
                <a:cs typeface="+mn-lt"/>
              </a:rPr>
              <a:t>The person who receives the voice note benefits the most. They save a lot of time. No more skipping through a three minute audio at 1.5x speed just to find one detail , like a room number or a deadline. It removes the frustration of missing information. All of this happens while keeping their chats completely secure. Their data stays on their laptop. It never leaves their control.</a:t>
            </a:r>
            <a:endParaRPr lang="en-US" sz="155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extLst>
      <p:ext uri="{BB962C8B-B14F-4D97-AF65-F5344CB8AC3E}">
        <p14:creationId xmlns:p14="http://schemas.microsoft.com/office/powerpoint/2010/main" val="3607048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rPr>
              <a:t>Syntax Terror</a:t>
            </a:r>
            <a:endParaRPr lang="en-US" sz="1500">
              <a:solidFill>
                <a:schemeClr val="accent1"/>
              </a:solidFill>
            </a:endParaRPr>
          </a:p>
        </p:txBody>
      </p:sp>
      <p:sp>
        <p:nvSpPr>
          <p:cNvPr id="7" name="Lead Icon Hex"/>
          <p:cNvSpPr/>
          <p:nvPr/>
        </p:nvSpPr>
        <p:spPr>
          <a:xfrm>
            <a:off x="548640" y="1206792"/>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267142"/>
            <a:ext cx="274320" cy="274320"/>
          </a:xfrm>
          <a:prstGeom prst="rect">
            <a:avLst/>
          </a:prstGeom>
        </p:spPr>
      </p:pic>
      <p:sp>
        <p:nvSpPr>
          <p:cNvPr id="9" name="Lead Text"/>
          <p:cNvSpPr txBox="1"/>
          <p:nvPr/>
        </p:nvSpPr>
        <p:spPr>
          <a:xfrm>
            <a:off x="1150202" y="1154329"/>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34963" y="1663318"/>
            <a:ext cx="10424160" cy="1645920"/>
          </a:xfrm>
          <a:prstGeom prst="rect">
            <a:avLst/>
          </a:prstGeom>
          <a:noFill/>
          <a:ln/>
        </p:spPr>
        <p:txBody>
          <a:bodyPr wrap="square" lIns="0" tIns="0" rIns="0" bIns="0" rtlCol="0" anchor="t"/>
          <a:lstStyle/>
          <a:p>
            <a:r>
              <a:rPr lang="en-US" sz="1450" b="1">
                <a:ea typeface="+mn-lt"/>
                <a:cs typeface="+mn-lt"/>
              </a:rPr>
              <a:t>Existing Scenario and Background :</a:t>
            </a:r>
            <a:endParaRPr lang="en-US" sz="1450" b="1">
              <a:ea typeface="Calibri"/>
              <a:cs typeface="Calibri"/>
            </a:endParaRPr>
          </a:p>
          <a:p>
            <a:endParaRPr lang="en-US" sz="1450" dirty="0">
              <a:ea typeface="Calibri"/>
              <a:cs typeface="Calibri"/>
            </a:endParaRPr>
          </a:p>
          <a:p>
            <a:r>
              <a:rPr lang="en-US" sz="1450">
                <a:ea typeface="+mn-lt"/>
                <a:cs typeface="+mn-lt"/>
              </a:rPr>
              <a:t>Voice notes are easy to send. They build a huge communication bottleneck on smartphones and PC . Important spoken details deadlines, </a:t>
            </a:r>
            <a:r>
              <a:rPr lang="en-US" sz="1450" dirty="0">
                <a:ea typeface="+mn-lt"/>
                <a:cs typeface="+mn-lt"/>
              </a:rPr>
              <a:t>roll numbers, payment instructions turn into blind spots the instant they arrive locking essential information inside opaque audio clips.</a:t>
            </a:r>
            <a:endParaRPr lang="en-US" sz="1450" dirty="0">
              <a:ea typeface="Calibri"/>
              <a:cs typeface="Calibri"/>
            </a:endParaRPr>
          </a:p>
          <a:p>
            <a:endParaRPr lang="en-US" sz="1450" dirty="0">
              <a:ea typeface="Calibri"/>
              <a:cs typeface="Calibri"/>
            </a:endParaRPr>
          </a:p>
          <a:p>
            <a:r>
              <a:rPr lang="en-US" sz="1450" b="1">
                <a:ea typeface="Calibri"/>
                <a:cs typeface="Calibri"/>
              </a:rPr>
              <a:t>Relevant data or facts :</a:t>
            </a:r>
          </a:p>
          <a:p>
            <a:endParaRPr lang="en-US" sz="1450" dirty="0">
              <a:ea typeface="Calibri"/>
              <a:cs typeface="Calibri"/>
            </a:endParaRPr>
          </a:p>
          <a:p>
            <a:r>
              <a:rPr lang="en-US" sz="1450" dirty="0">
                <a:ea typeface="+mn-lt"/>
                <a:cs typeface="+mn-lt"/>
              </a:rPr>
              <a:t>Over 7 billion voice messages travel across WhatsApp every day. Yet no mainstream platform offers a native on device search only for words. </a:t>
            </a:r>
            <a:r>
              <a:rPr lang="en-US" sz="1450">
                <a:ea typeface="+mn-lt"/>
                <a:cs typeface="+mn-lt"/>
              </a:rPr>
              <a:t>This leaves users stranded forcing them to risk third party cloud tools for voice messages.</a:t>
            </a:r>
            <a:endParaRPr lang="en-US" sz="1450">
              <a:ea typeface="Calibri"/>
              <a:cs typeface="Calibri"/>
            </a:endParaRPr>
          </a:p>
          <a:p>
            <a:endParaRPr lang="en-US" sz="1450" dirty="0">
              <a:ea typeface="Calibri"/>
              <a:cs typeface="Calibri"/>
            </a:endParaRPr>
          </a:p>
          <a:p>
            <a:r>
              <a:rPr lang="en-US" sz="1450" b="1" dirty="0">
                <a:ea typeface="+mn-lt"/>
                <a:cs typeface="+mn-lt"/>
              </a:rPr>
              <a:t>Current w</a:t>
            </a:r>
            <a:r>
              <a:rPr lang="en-US" sz="1500" b="1" dirty="0">
                <a:ea typeface="+mn-lt"/>
                <a:cs typeface="+mn-lt"/>
              </a:rPr>
              <a:t>orkflow s</a:t>
            </a:r>
            <a:r>
              <a:rPr lang="en-US" sz="1450" b="1">
                <a:ea typeface="+mn-lt"/>
                <a:cs typeface="+mn-lt"/>
              </a:rPr>
              <a:t>tep by step :</a:t>
            </a:r>
            <a:endParaRPr lang="en-US" sz="1450" b="1" dirty="0">
              <a:ea typeface="Calibri"/>
              <a:cs typeface="Calibri"/>
            </a:endParaRPr>
          </a:p>
          <a:p>
            <a:endParaRPr lang="en-US" sz="1450" dirty="0">
              <a:ea typeface="Calibri"/>
              <a:cs typeface="Calibri"/>
            </a:endParaRPr>
          </a:p>
          <a:p>
            <a:r>
              <a:rPr lang="en-US" sz="1450">
                <a:ea typeface="+mn-lt"/>
                <a:cs typeface="+mn-lt"/>
              </a:rPr>
              <a:t>1. Receive: Listen to a voice note, on phone or desktop client.</a:t>
            </a:r>
            <a:endParaRPr lang="en-US" sz="1450" dirty="0">
              <a:ea typeface="Calibri"/>
              <a:cs typeface="Calibri"/>
            </a:endParaRPr>
          </a:p>
          <a:p>
            <a:endParaRPr lang="en-US" sz="1450" dirty="0">
              <a:ea typeface="Calibri"/>
              <a:cs typeface="Calibri"/>
            </a:endParaRPr>
          </a:p>
          <a:p>
            <a:r>
              <a:rPr lang="en-US" sz="1450" dirty="0">
                <a:ea typeface="+mn-lt"/>
                <a:cs typeface="+mn-lt"/>
              </a:rPr>
              <a:t>2. Information Loss: Days later need a detail inside that recording urgently but its gone .</a:t>
            </a:r>
            <a:endParaRPr lang="en-US" sz="1450" dirty="0">
              <a:ea typeface="Calibri"/>
              <a:cs typeface="Calibri"/>
            </a:endParaRPr>
          </a:p>
          <a:p>
            <a:endParaRPr lang="en-US" sz="1450" dirty="0">
              <a:ea typeface="Calibri"/>
              <a:cs typeface="Calibri"/>
            </a:endParaRPr>
          </a:p>
          <a:p>
            <a:r>
              <a:rPr lang="en-US" sz="1450">
                <a:ea typeface="+mn-lt"/>
                <a:cs typeface="+mn-lt"/>
              </a:rPr>
              <a:t>3. Search Failure: Typing keywords into chat search bar gives no result because apps index typed text.</a:t>
            </a:r>
            <a:endParaRPr lang="en-US" sz="1450" dirty="0">
              <a:ea typeface="Calibri"/>
              <a:cs typeface="Calibri"/>
            </a:endParaRPr>
          </a:p>
          <a:p>
            <a:endParaRPr lang="en-US" sz="1450" dirty="0">
              <a:ea typeface="Calibri"/>
              <a:cs typeface="Calibri"/>
            </a:endParaRPr>
          </a:p>
          <a:p>
            <a:r>
              <a:rPr lang="en-US" sz="1450">
                <a:ea typeface="+mn-lt"/>
                <a:cs typeface="+mn-lt"/>
              </a:rPr>
              <a:t>4. Manual Scrubbing: Guess which audio file has answer waste minutes scrubbing back and forth at 1.5x speed to catch a five second </a:t>
            </a:r>
            <a:r>
              <a:rPr lang="en-US" sz="1450" dirty="0">
                <a:ea typeface="+mn-lt"/>
                <a:cs typeface="+mn-lt"/>
              </a:rPr>
              <a:t>phrase.</a:t>
            </a:r>
            <a:endParaRPr lang="en-US" sz="145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extLst>
      <p:ext uri="{BB962C8B-B14F-4D97-AF65-F5344CB8AC3E}">
        <p14:creationId xmlns:p14="http://schemas.microsoft.com/office/powerpoint/2010/main" val="3743773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rPr>
              <a:t>Syntax Terror</a:t>
            </a:r>
            <a:endParaRPr lang="en-US" sz="1500">
              <a:solidFill>
                <a:schemeClr val="accent1"/>
              </a:solidFill>
            </a:endParaRPr>
          </a:p>
        </p:txBody>
      </p:sp>
      <p:sp>
        <p:nvSpPr>
          <p:cNvPr id="7" name="Lead Icon Hex"/>
          <p:cNvSpPr/>
          <p:nvPr/>
        </p:nvSpPr>
        <p:spPr>
          <a:xfrm>
            <a:off x="548640" y="1206792"/>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267142"/>
            <a:ext cx="274320" cy="274320"/>
          </a:xfrm>
          <a:prstGeom prst="rect">
            <a:avLst/>
          </a:prstGeom>
        </p:spPr>
      </p:pic>
      <p:sp>
        <p:nvSpPr>
          <p:cNvPr id="9" name="Lead Text"/>
          <p:cNvSpPr txBox="1"/>
          <p:nvPr/>
        </p:nvSpPr>
        <p:spPr>
          <a:xfrm>
            <a:off x="1150202" y="1154329"/>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34963" y="1717265"/>
            <a:ext cx="10424160" cy="1645920"/>
          </a:xfrm>
          <a:prstGeom prst="rect">
            <a:avLst/>
          </a:prstGeom>
          <a:noFill/>
          <a:ln/>
        </p:spPr>
        <p:txBody>
          <a:bodyPr wrap="square" lIns="0" tIns="0" rIns="0" bIns="0" rtlCol="0" anchor="t"/>
          <a:lstStyle/>
          <a:p>
            <a:r>
              <a:rPr lang="en-US" sz="1600" b="1">
                <a:solidFill>
                  <a:srgbClr val="0E2A2F"/>
                </a:solidFill>
                <a:ea typeface="+mn-lt"/>
                <a:cs typeface="+mn-lt"/>
              </a:rPr>
              <a:t>Main difficulties and bottlenecks :</a:t>
            </a:r>
            <a:endParaRPr lang="en-US" b="1">
              <a:ea typeface="Calibri"/>
              <a:cs typeface="Calibri"/>
            </a:endParaRPr>
          </a:p>
          <a:p>
            <a:endParaRPr lang="en-US" sz="1600" dirty="0">
              <a:ea typeface="Calibri"/>
              <a:cs typeface="Calibri"/>
            </a:endParaRPr>
          </a:p>
          <a:p>
            <a:pPr marL="285750" indent="-285750">
              <a:buFont typeface="Arial"/>
              <a:buChar char="•"/>
            </a:pPr>
            <a:r>
              <a:rPr lang="en-US" sz="1600">
                <a:ea typeface="+mn-lt"/>
                <a:cs typeface="+mn-lt"/>
              </a:rPr>
              <a:t>Running speech to text locally without draining phone batteries or causing device lag.</a:t>
            </a:r>
            <a:endParaRPr lang="en-US" sz="1600" dirty="0">
              <a:ea typeface="Calibri"/>
              <a:cs typeface="Calibri"/>
            </a:endParaRPr>
          </a:p>
          <a:p>
            <a:endParaRPr lang="en-US" sz="1600" dirty="0">
              <a:ea typeface="+mn-lt"/>
              <a:cs typeface="+mn-lt"/>
            </a:endParaRPr>
          </a:p>
          <a:p>
            <a:pPr marL="285750" indent="-285750">
              <a:buFont typeface="Arial"/>
              <a:buChar char="•"/>
            </a:pPr>
            <a:r>
              <a:rPr lang="en-US" sz="1600" dirty="0" err="1">
                <a:ea typeface="+mn-lt"/>
                <a:cs typeface="+mn-lt"/>
              </a:rPr>
              <a:t>WhatsApps</a:t>
            </a:r>
            <a:r>
              <a:rPr lang="en-US" sz="1600" dirty="0">
                <a:ea typeface="+mn-lt"/>
                <a:cs typeface="+mn-lt"/>
              </a:rPr>
              <a:t> encrypted sandbox blocks direct internal database access, requiring file workarounds.</a:t>
            </a:r>
            <a:endParaRPr lang="en-US" sz="1600" dirty="0">
              <a:ea typeface="Calibri"/>
              <a:cs typeface="Calibri"/>
            </a:endParaRPr>
          </a:p>
          <a:p>
            <a:endParaRPr lang="en-US" sz="1600" dirty="0">
              <a:ea typeface="Calibri"/>
              <a:cs typeface="Calibri"/>
            </a:endParaRPr>
          </a:p>
          <a:p>
            <a:pPr marL="285750" indent="-285750">
              <a:buFont typeface="Arial"/>
              <a:buChar char="•"/>
            </a:pPr>
            <a:r>
              <a:rPr lang="en-US" sz="1600">
                <a:ea typeface="+mn-lt"/>
                <a:cs typeface="+mn-lt"/>
              </a:rPr>
              <a:t>Accurately parsing real world audio with background noise, accents and mixed languages.</a:t>
            </a:r>
            <a:endParaRPr lang="en-US" sz="1600" dirty="0">
              <a:ea typeface="Calibri"/>
              <a:cs typeface="Calibri"/>
            </a:endParaRPr>
          </a:p>
          <a:p>
            <a:endParaRPr lang="en-US" sz="1600" dirty="0">
              <a:ea typeface="Calibri"/>
              <a:cs typeface="Calibri"/>
            </a:endParaRPr>
          </a:p>
          <a:p>
            <a:r>
              <a:rPr lang="en-US" sz="1600" b="1">
                <a:solidFill>
                  <a:srgbClr val="0E2A2F"/>
                </a:solidFill>
                <a:ea typeface="+mn-lt"/>
                <a:cs typeface="+mn-lt"/>
              </a:rPr>
              <a:t>Root causes behind them :</a:t>
            </a:r>
            <a:endParaRPr lang="en-US" b="1">
              <a:ea typeface="Calibri"/>
              <a:cs typeface="Calibri"/>
            </a:endParaRPr>
          </a:p>
          <a:p>
            <a:endParaRPr lang="en-US" sz="1600" dirty="0">
              <a:ea typeface="Calibri"/>
              <a:cs typeface="Calibri"/>
            </a:endParaRPr>
          </a:p>
          <a:p>
            <a:pPr marL="285750" indent="-285750">
              <a:buFont typeface="Arial"/>
              <a:buChar char="•"/>
            </a:pPr>
            <a:r>
              <a:rPr lang="en-US" sz="1600">
                <a:ea typeface="+mn-lt"/>
                <a:cs typeface="+mn-lt"/>
              </a:rPr>
              <a:t> Accurate speech models were designed for cloud servers making on device compression technically difficult.</a:t>
            </a:r>
            <a:endParaRPr lang="en-US" sz="1600" dirty="0">
              <a:ea typeface="Calibri"/>
              <a:cs typeface="Calibri"/>
            </a:endParaRPr>
          </a:p>
          <a:p>
            <a:endParaRPr lang="en-US" sz="1600" dirty="0">
              <a:ea typeface="Calibri"/>
              <a:cs typeface="Calibri"/>
            </a:endParaRPr>
          </a:p>
          <a:p>
            <a:pPr marL="285750" indent="-285750">
              <a:buFont typeface="Arial"/>
              <a:buChar char="•"/>
            </a:pPr>
            <a:r>
              <a:rPr lang="en-US" sz="1600">
                <a:ea typeface="+mn-lt"/>
                <a:cs typeface="+mn-lt"/>
              </a:rPr>
              <a:t>Messaging apps strictly lock their file ecosystems for security limiting automated background ingestion.</a:t>
            </a:r>
            <a:endParaRPr lang="en-US" sz="1600" dirty="0">
              <a:ea typeface="Calibri"/>
              <a:cs typeface="Calibri"/>
            </a:endParaRPr>
          </a:p>
          <a:p>
            <a:endParaRPr lang="en-US" sz="1600" b="1" dirty="0">
              <a:ea typeface="Calibri"/>
              <a:cs typeface="Calibri"/>
            </a:endParaRPr>
          </a:p>
          <a:p>
            <a:r>
              <a:rPr lang="en-US" sz="1600" b="1">
                <a:solidFill>
                  <a:srgbClr val="0E2A2F"/>
                </a:solidFill>
                <a:ea typeface="+mn-lt"/>
                <a:cs typeface="+mn-lt"/>
              </a:rPr>
              <a:t>Consequences of leaving them unsolved :</a:t>
            </a:r>
            <a:endParaRPr lang="en-US" b="1">
              <a:ea typeface="Calibri"/>
              <a:cs typeface="Calibri"/>
            </a:endParaRPr>
          </a:p>
          <a:p>
            <a:endParaRPr lang="en-US" sz="1600" dirty="0">
              <a:ea typeface="Calibri"/>
              <a:cs typeface="Calibri"/>
            </a:endParaRPr>
          </a:p>
          <a:p>
            <a:pPr marL="285750" indent="-285750">
              <a:buFont typeface="Arial"/>
              <a:buChar char="•"/>
            </a:pPr>
            <a:r>
              <a:rPr lang="en-US" sz="1600">
                <a:ea typeface="+mn-lt"/>
                <a:cs typeface="+mn-lt"/>
              </a:rPr>
              <a:t> Continued productivity loss, with millions wasting hours scrubbing audio timelines, for lost details.</a:t>
            </a:r>
            <a:endParaRPr lang="en-US" sz="1600" dirty="0">
              <a:ea typeface="Calibri"/>
              <a:cs typeface="Calibri"/>
            </a:endParaRPr>
          </a:p>
          <a:p>
            <a:endParaRPr lang="en-US" sz="1600" dirty="0">
              <a:ea typeface="Calibri"/>
              <a:cs typeface="Calibri"/>
            </a:endParaRPr>
          </a:p>
          <a:p>
            <a:pPr marL="285750" indent="-285750">
              <a:spcAft>
                <a:spcPts val="1000"/>
              </a:spcAft>
              <a:buFont typeface="Arial"/>
              <a:buChar char="•"/>
            </a:pPr>
            <a:r>
              <a:rPr lang="en-US" sz="1600">
                <a:ea typeface="+mn-lt"/>
                <a:cs typeface="+mn-lt"/>
              </a:rPr>
              <a:t>Severe privacy risks as desperate users upload personal voice notes to untrusted third party cloud transcription tools.</a:t>
            </a:r>
            <a:endParaRPr lang="en-US" sz="160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extLst>
      <p:ext uri="{BB962C8B-B14F-4D97-AF65-F5344CB8AC3E}">
        <p14:creationId xmlns:p14="http://schemas.microsoft.com/office/powerpoint/2010/main" val="1886962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rPr>
              <a:t>Syntax Terror</a:t>
            </a:r>
            <a:endParaRPr lang="en-US" sz="1500">
              <a:solidFill>
                <a:schemeClr val="accent1"/>
              </a:solidFill>
            </a:endParaRPr>
          </a:p>
        </p:txBody>
      </p:sp>
      <p:sp>
        <p:nvSpPr>
          <p:cNvPr id="7" name="Lead Icon Hex"/>
          <p:cNvSpPr/>
          <p:nvPr/>
        </p:nvSpPr>
        <p:spPr>
          <a:xfrm>
            <a:off x="548640" y="1200049"/>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260399"/>
            <a:ext cx="274320" cy="274320"/>
          </a:xfrm>
          <a:prstGeom prst="rect">
            <a:avLst/>
          </a:prstGeom>
        </p:spPr>
      </p:pic>
      <p:sp>
        <p:nvSpPr>
          <p:cNvPr id="9" name="Lead Text"/>
          <p:cNvSpPr txBox="1"/>
          <p:nvPr/>
        </p:nvSpPr>
        <p:spPr>
          <a:xfrm>
            <a:off x="1150202" y="1147585"/>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781016" y="1717265"/>
            <a:ext cx="10424160" cy="1645920"/>
          </a:xfrm>
          <a:prstGeom prst="rect">
            <a:avLst/>
          </a:prstGeom>
          <a:noFill/>
          <a:ln/>
        </p:spPr>
        <p:txBody>
          <a:bodyPr wrap="square" lIns="0" tIns="0" rIns="0" bIns="0" rtlCol="0" anchor="t"/>
          <a:lstStyle/>
          <a:p>
            <a:r>
              <a:rPr lang="en-US" sz="1600" b="1">
                <a:solidFill>
                  <a:srgbClr val="0E2A2F"/>
                </a:solidFill>
                <a:ea typeface="+mn-lt"/>
                <a:cs typeface="+mn-lt"/>
              </a:rPr>
              <a:t>Existing methods, systems or alternatives :</a:t>
            </a:r>
            <a:endParaRPr lang="en-US" b="1">
              <a:ea typeface="Calibri"/>
              <a:cs typeface="Calibri"/>
            </a:endParaRPr>
          </a:p>
          <a:p>
            <a:endParaRPr lang="en-US" sz="1600" dirty="0">
              <a:ea typeface="+mn-lt"/>
              <a:cs typeface="+mn-lt"/>
            </a:endParaRPr>
          </a:p>
          <a:p>
            <a:pPr marL="285750" indent="-285750">
              <a:buFont typeface="Arial"/>
              <a:buChar char="•"/>
            </a:pPr>
            <a:r>
              <a:rPr lang="en-US" sz="1600">
                <a:ea typeface="+mn-lt"/>
                <a:cs typeface="+mn-lt"/>
              </a:rPr>
              <a:t>Native WhatsApp Transcription: This method creates text directly on the device for each message individually.</a:t>
            </a:r>
          </a:p>
          <a:p>
            <a:endParaRPr lang="en-US" sz="1600" dirty="0">
              <a:ea typeface="Calibri"/>
              <a:cs typeface="Calibri"/>
            </a:endParaRPr>
          </a:p>
          <a:p>
            <a:pPr marL="285750" indent="-285750">
              <a:buFont typeface="Arial"/>
              <a:buChar char="•"/>
            </a:pPr>
            <a:r>
              <a:rPr lang="en-US" sz="1600" dirty="0">
                <a:ea typeface="+mn-lt"/>
                <a:cs typeface="+mn-lt"/>
              </a:rPr>
              <a:t>Third Party Transcription Bots: Users send files to external bots, which then process the transcription using cloud based servers.</a:t>
            </a:r>
          </a:p>
          <a:p>
            <a:endParaRPr lang="en-US" sz="1600" dirty="0">
              <a:ea typeface="Calibri"/>
              <a:cs typeface="Calibri"/>
            </a:endParaRPr>
          </a:p>
          <a:p>
            <a:r>
              <a:rPr lang="en-US" sz="1600" b="1">
                <a:solidFill>
                  <a:srgbClr val="0E2A2F"/>
                </a:solidFill>
                <a:ea typeface="+mn-lt"/>
                <a:cs typeface="+mn-lt"/>
              </a:rPr>
              <a:t>Limitations of each :</a:t>
            </a:r>
            <a:endParaRPr lang="en-US" b="1">
              <a:ea typeface="Calibri"/>
              <a:cs typeface="Calibri"/>
            </a:endParaRPr>
          </a:p>
          <a:p>
            <a:endParaRPr lang="en-US" sz="1600" dirty="0">
              <a:ea typeface="+mn-lt"/>
              <a:cs typeface="+mn-lt"/>
            </a:endParaRPr>
          </a:p>
          <a:p>
            <a:pPr marL="285750" indent="-285750">
              <a:buFont typeface="Arial"/>
              <a:buChar char="•"/>
            </a:pPr>
            <a:r>
              <a:rPr lang="en-US" sz="1600">
                <a:ea typeface="+mn-lt"/>
                <a:cs typeface="+mn-lt"/>
              </a:rPr>
              <a:t>Native Limitations: The native approach has no way to search across all voice notes at once. It also cannot export transcripts. It struggles when users switch between languages in the middle of a sentence this is called code switching.</a:t>
            </a:r>
          </a:p>
          <a:p>
            <a:endParaRPr lang="en-US" sz="1600" dirty="0">
              <a:ea typeface="Calibri"/>
              <a:cs typeface="Calibri"/>
            </a:endParaRPr>
          </a:p>
          <a:p>
            <a:pPr marL="285750" indent="-285750">
              <a:buFont typeface="Arial"/>
              <a:buChar char="•"/>
            </a:pPr>
            <a:r>
              <a:rPr lang="en-US" sz="1600">
                <a:ea typeface="+mn-lt"/>
                <a:cs typeface="+mn-lt"/>
              </a:rPr>
              <a:t>Bot Privacy Risks: Sending voice messages to third party bots is a privacy issue. These bots store audio files on servers that users don’t control. This creates a risk of data leaks and violations of personal privacy.</a:t>
            </a:r>
          </a:p>
          <a:p>
            <a:endParaRPr lang="en-US" sz="1600" dirty="0">
              <a:ea typeface="Calibri"/>
              <a:cs typeface="Calibri"/>
            </a:endParaRPr>
          </a:p>
          <a:p>
            <a:r>
              <a:rPr lang="en-US" sz="1600" b="1">
                <a:solidFill>
                  <a:srgbClr val="0E2A2F"/>
                </a:solidFill>
                <a:ea typeface="+mn-lt"/>
                <a:cs typeface="+mn-lt"/>
              </a:rPr>
              <a:t>The gap they leave open :</a:t>
            </a:r>
            <a:endParaRPr lang="en-US" b="1">
              <a:ea typeface="Calibri"/>
              <a:cs typeface="Calibri"/>
            </a:endParaRPr>
          </a:p>
          <a:p>
            <a:endParaRPr lang="en-US" sz="1600" dirty="0">
              <a:ea typeface="+mn-lt"/>
              <a:cs typeface="+mn-lt"/>
            </a:endParaRPr>
          </a:p>
          <a:p>
            <a:pPr>
              <a:spcAft>
                <a:spcPts val="1000"/>
              </a:spcAft>
            </a:pPr>
            <a:r>
              <a:rPr lang="en-US" sz="1600">
                <a:ea typeface="+mn-lt"/>
                <a:cs typeface="+mn-lt"/>
              </a:rPr>
              <a:t>There is no decentralized tool that can index and search through a user’s full history of voice notes. People are forced to pick between a tool that cannot search everything, at once or a tool that puts their data at risk.</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extLst>
      <p:ext uri="{BB962C8B-B14F-4D97-AF65-F5344CB8AC3E}">
        <p14:creationId xmlns:p14="http://schemas.microsoft.com/office/powerpoint/2010/main" val="289772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r>
              <a:rPr lang="en-US" sz="900" b="1" kern="0" spc="300" dirty="0">
                <a:solidFill>
                  <a:schemeClr val="accent5"/>
                </a:solidFill>
              </a:rPr>
              <a:t>TEAM</a:t>
            </a:r>
            <a:endParaRPr lang="en-US" sz="900">
              <a:solidFill>
                <a:srgbClr val="0E2A2F"/>
              </a:solidFill>
              <a:ea typeface="Calibri"/>
              <a:cs typeface="Calibri"/>
            </a:endParaRPr>
          </a:p>
          <a:p>
            <a:r>
              <a:rPr lang="en-US" sz="1500" b="1">
                <a:solidFill>
                  <a:schemeClr val="accent1"/>
                </a:solidFill>
                <a:ea typeface="Calibri"/>
                <a:cs typeface="Calibri"/>
              </a:rPr>
              <a:t>Syntax Terror</a:t>
            </a:r>
            <a:endParaRPr lang="en-US" sz="1500">
              <a:solidFill>
                <a:schemeClr val="accent1"/>
              </a:solidFill>
              <a:ea typeface="Calibri"/>
              <a:cs typeface="Calibri"/>
            </a:endParaRPr>
          </a:p>
        </p:txBody>
      </p:sp>
      <p:sp>
        <p:nvSpPr>
          <p:cNvPr id="7" name="Lead Icon Hex"/>
          <p:cNvSpPr/>
          <p:nvPr/>
        </p:nvSpPr>
        <p:spPr>
          <a:xfrm>
            <a:off x="548640" y="1206792"/>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267142"/>
            <a:ext cx="274320" cy="274320"/>
          </a:xfrm>
          <a:prstGeom prst="rect">
            <a:avLst/>
          </a:prstGeom>
        </p:spPr>
      </p:pic>
      <p:sp>
        <p:nvSpPr>
          <p:cNvPr id="9" name="Lead Text"/>
          <p:cNvSpPr txBox="1"/>
          <p:nvPr/>
        </p:nvSpPr>
        <p:spPr>
          <a:xfrm>
            <a:off x="1150202" y="1154329"/>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34963" y="1602628"/>
            <a:ext cx="10424160" cy="1645920"/>
          </a:xfrm>
          <a:prstGeom prst="rect">
            <a:avLst/>
          </a:prstGeom>
          <a:noFill/>
          <a:ln/>
        </p:spPr>
        <p:txBody>
          <a:bodyPr wrap="square" lIns="0" tIns="0" rIns="0" bIns="0" rtlCol="0" anchor="t"/>
          <a:lstStyle/>
          <a:p>
            <a:r>
              <a:rPr lang="en-US" sz="1350" b="1">
                <a:ea typeface="+mn-lt"/>
                <a:cs typeface="+mn-lt"/>
              </a:rPr>
              <a:t>Hardware Requirements :</a:t>
            </a:r>
            <a:endParaRPr lang="en-US" sz="1350" b="1">
              <a:ea typeface="Calibri"/>
              <a:cs typeface="Calibri"/>
            </a:endParaRPr>
          </a:p>
          <a:p>
            <a:endParaRPr lang="en-US" sz="1350" dirty="0">
              <a:ea typeface="Calibri"/>
              <a:cs typeface="Calibri"/>
            </a:endParaRPr>
          </a:p>
          <a:p>
            <a:r>
              <a:rPr lang="en-US" sz="1350" dirty="0">
                <a:ea typeface="+mn-lt"/>
                <a:cs typeface="+mn-lt"/>
              </a:rPr>
              <a:t>Target Devices: I recommend using smartphones or PCs that have at least 4 </a:t>
            </a:r>
            <a:r>
              <a:rPr lang="en-US" sz="1350" dirty="0" err="1">
                <a:ea typeface="+mn-lt"/>
                <a:cs typeface="+mn-lt"/>
              </a:rPr>
              <a:t>gb</a:t>
            </a:r>
            <a:r>
              <a:rPr lang="en-US" sz="1350" dirty="0">
                <a:ea typeface="+mn-lt"/>
                <a:cs typeface="+mn-lt"/>
              </a:rPr>
              <a:t> of RAM. These devices should also have multi core processors such as Apple Silicon, Snapdragon or Intel/AMD.</a:t>
            </a:r>
            <a:endParaRPr lang="en-US" sz="1350" dirty="0">
              <a:ea typeface="Calibri"/>
              <a:cs typeface="Calibri"/>
            </a:endParaRPr>
          </a:p>
          <a:p>
            <a:endParaRPr lang="en-US" sz="1350" dirty="0">
              <a:ea typeface="Calibri"/>
              <a:cs typeface="Calibri"/>
            </a:endParaRPr>
          </a:p>
          <a:p>
            <a:r>
              <a:rPr lang="en-US" sz="1350">
                <a:ea typeface="+mn-lt"/>
                <a:cs typeface="+mn-lt"/>
              </a:rPr>
              <a:t>Local Storage: You will need between 150 to 300 megabytes of disk space to store the quantized AI model weights and the indexed database.</a:t>
            </a:r>
            <a:endParaRPr lang="en-US" sz="1350" dirty="0">
              <a:ea typeface="Calibri"/>
              <a:cs typeface="Calibri"/>
            </a:endParaRPr>
          </a:p>
          <a:p>
            <a:endParaRPr lang="en-US" sz="1350" dirty="0">
              <a:ea typeface="Calibri"/>
              <a:cs typeface="Calibri"/>
            </a:endParaRPr>
          </a:p>
          <a:p>
            <a:r>
              <a:rPr lang="en-US" sz="1350" b="1">
                <a:ea typeface="+mn-lt"/>
                <a:cs typeface="+mn-lt"/>
              </a:rPr>
              <a:t>Software Requirements :</a:t>
            </a:r>
            <a:endParaRPr lang="en-US" sz="1350" b="1">
              <a:ea typeface="Calibri"/>
              <a:cs typeface="Calibri"/>
            </a:endParaRPr>
          </a:p>
          <a:p>
            <a:endParaRPr lang="en-US" sz="1350" dirty="0">
              <a:ea typeface="Calibri"/>
              <a:cs typeface="Calibri"/>
            </a:endParaRPr>
          </a:p>
          <a:p>
            <a:r>
              <a:rPr lang="en-US" sz="1350">
                <a:ea typeface="+mn-lt"/>
                <a:cs typeface="+mn-lt"/>
              </a:rPr>
              <a:t>Edge AI Engine: The project needs a quantized runtime. Options include whisper.cpp or faster whisper running through ONNX.</a:t>
            </a:r>
            <a:endParaRPr lang="en-US" sz="1350" dirty="0">
              <a:ea typeface="Calibri"/>
              <a:cs typeface="Calibri"/>
            </a:endParaRPr>
          </a:p>
          <a:p>
            <a:endParaRPr lang="en-US" sz="1350" dirty="0">
              <a:ea typeface="Calibri"/>
              <a:cs typeface="Calibri"/>
            </a:endParaRPr>
          </a:p>
          <a:p>
            <a:r>
              <a:rPr lang="en-US" sz="1350">
                <a:ea typeface="+mn-lt"/>
                <a:cs typeface="+mn-lt"/>
              </a:rPr>
              <a:t>Local Search: SQLite, with the FTS5 extension will give full text indexing and timestamp queries.</a:t>
            </a:r>
            <a:endParaRPr lang="en-US" sz="1350" dirty="0">
              <a:ea typeface="Calibri"/>
              <a:cs typeface="Calibri"/>
            </a:endParaRPr>
          </a:p>
          <a:p>
            <a:endParaRPr lang="en-US" sz="1350" dirty="0">
              <a:ea typeface="Calibri"/>
              <a:cs typeface="Calibri"/>
            </a:endParaRPr>
          </a:p>
          <a:p>
            <a:r>
              <a:rPr lang="en-US" sz="1350" dirty="0">
                <a:ea typeface="+mn-lt"/>
                <a:cs typeface="+mn-lt"/>
              </a:rPr>
              <a:t>Audio &amp; Interface: </a:t>
            </a:r>
            <a:r>
              <a:rPr lang="en-US" sz="1350" dirty="0" err="1">
                <a:ea typeface="+mn-lt"/>
                <a:cs typeface="+mn-lt"/>
              </a:rPr>
              <a:t>FFmpeg</a:t>
            </a:r>
            <a:r>
              <a:rPr lang="en-US" sz="1350" dirty="0">
                <a:ea typeface="+mn-lt"/>
                <a:cs typeface="+mn-lt"/>
              </a:rPr>
              <a:t> or </a:t>
            </a:r>
            <a:r>
              <a:rPr lang="en-US" sz="1350" dirty="0" err="1">
                <a:ea typeface="+mn-lt"/>
                <a:cs typeface="+mn-lt"/>
              </a:rPr>
              <a:t>libopus</a:t>
            </a:r>
            <a:r>
              <a:rPr lang="en-US" sz="1350" dirty="0">
                <a:ea typeface="+mn-lt"/>
                <a:cs typeface="+mn-lt"/>
              </a:rPr>
              <a:t> will decode the </a:t>
            </a:r>
            <a:r>
              <a:rPr lang="en-US" sz="1350" dirty="0" err="1">
                <a:ea typeface="+mn-lt"/>
                <a:cs typeface="+mn-lt"/>
              </a:rPr>
              <a:t>WhatsApp.opus</a:t>
            </a:r>
            <a:r>
              <a:rPr lang="en-US" sz="1350" dirty="0">
                <a:ea typeface="+mn-lt"/>
                <a:cs typeface="+mn-lt"/>
              </a:rPr>
              <a:t> audio. For a lightweight cross platform user interface Flutter or Tauri is a choice.</a:t>
            </a:r>
            <a:endParaRPr lang="en-US" sz="1350" dirty="0">
              <a:ea typeface="Calibri"/>
              <a:cs typeface="Calibri"/>
            </a:endParaRPr>
          </a:p>
          <a:p>
            <a:endParaRPr lang="en-US" sz="1350" dirty="0">
              <a:ea typeface="Calibri"/>
              <a:cs typeface="Calibri"/>
            </a:endParaRPr>
          </a:p>
          <a:p>
            <a:r>
              <a:rPr lang="en-US" sz="1350" b="1">
                <a:ea typeface="+mn-lt"/>
                <a:cs typeface="+mn-lt"/>
              </a:rPr>
              <a:t>Other Resources (Including Human Resources) :</a:t>
            </a:r>
            <a:endParaRPr lang="en-US" sz="1350" b="1">
              <a:ea typeface="Calibri"/>
              <a:cs typeface="Calibri"/>
            </a:endParaRPr>
          </a:p>
          <a:p>
            <a:endParaRPr lang="en-US" sz="1350" dirty="0">
              <a:ea typeface="Calibri"/>
              <a:cs typeface="Calibri"/>
            </a:endParaRPr>
          </a:p>
          <a:p>
            <a:r>
              <a:rPr lang="en-US" sz="1350" dirty="0">
                <a:ea typeface="+mn-lt"/>
                <a:cs typeface="+mn-lt"/>
              </a:rPr>
              <a:t>Team: Two or three developers are required. Their skills should cover Edge AI/ML </a:t>
            </a:r>
            <a:r>
              <a:rPr lang="en-US" sz="1350" dirty="0" err="1">
                <a:ea typeface="+mn-lt"/>
                <a:cs typeface="+mn-lt"/>
              </a:rPr>
              <a:t>optimisation</a:t>
            </a:r>
            <a:r>
              <a:rPr lang="en-US" sz="1350" dirty="0">
                <a:ea typeface="+mn-lt"/>
                <a:cs typeface="+mn-lt"/>
              </a:rPr>
              <a:t> cross platform app development and UI/UX design.</a:t>
            </a:r>
            <a:endParaRPr lang="en-US" sz="1350" dirty="0">
              <a:ea typeface="Calibri"/>
              <a:cs typeface="Calibri"/>
            </a:endParaRPr>
          </a:p>
          <a:p>
            <a:endParaRPr lang="en-US" sz="1350" dirty="0">
              <a:ea typeface="Calibri"/>
              <a:cs typeface="Calibri"/>
            </a:endParaRPr>
          </a:p>
          <a:p>
            <a:r>
              <a:rPr lang="en-US" sz="1350">
                <a:ea typeface="+mn-lt"/>
                <a:cs typeface="+mn-lt"/>
              </a:rPr>
              <a:t>Testing Assets: Real world audio datasets are essential. These datasets should include background noise, rapid speech and regional accents so that </a:t>
            </a:r>
            <a:r>
              <a:rPr lang="en-US" sz="1350" dirty="0">
                <a:ea typeface="+mn-lt"/>
                <a:cs typeface="+mn-lt"/>
              </a:rPr>
              <a:t>local accuracy can be validated.</a:t>
            </a:r>
            <a:endParaRPr lang="en-US" sz="135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extLst>
      <p:ext uri="{BB962C8B-B14F-4D97-AF65-F5344CB8AC3E}">
        <p14:creationId xmlns:p14="http://schemas.microsoft.com/office/powerpoint/2010/main" val="1687667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r>
              <a:rPr lang="en-US" sz="900" b="1" kern="0" spc="300" dirty="0">
                <a:solidFill>
                  <a:schemeClr val="accent5"/>
                </a:solidFill>
              </a:rPr>
              <a:t>TEAM</a:t>
            </a:r>
            <a:endParaRPr lang="en-US" sz="900">
              <a:solidFill>
                <a:schemeClr val="accent5"/>
              </a:solidFill>
              <a:ea typeface="Calibri"/>
              <a:cs typeface="Calibri"/>
            </a:endParaRPr>
          </a:p>
          <a:p>
            <a:r>
              <a:rPr lang="en-US" sz="1500" b="1">
                <a:solidFill>
                  <a:schemeClr val="accent1"/>
                </a:solidFill>
                <a:ea typeface="Calibri"/>
                <a:cs typeface="Calibri"/>
              </a:rPr>
              <a:t>Syntax Terror</a:t>
            </a:r>
            <a:endParaRPr lang="en-US" sz="1500">
              <a:solidFill>
                <a:schemeClr val="accent1"/>
              </a:solidFill>
              <a:ea typeface="Calibri"/>
              <a:cs typeface="Calibri"/>
            </a:endParaRP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What Is </a:t>
            </a:r>
            <a:r>
              <a:rPr lang="en-US" b="1">
                <a:solidFill>
                  <a:schemeClr val="accent2"/>
                </a:solidFill>
              </a:rPr>
              <a:t>our</a:t>
            </a:r>
            <a:r>
              <a:rPr lang="en-US" sz="1800" b="1">
                <a:solidFill>
                  <a:schemeClr val="accent2"/>
                </a:solidFill>
              </a:rPr>
              <a:t> Expected Outcome?</a:t>
            </a:r>
            <a:endParaRPr lang="en-US" sz="1800">
              <a:solidFill>
                <a:schemeClr val="accent2"/>
              </a:solidFill>
            </a:endParaRPr>
          </a:p>
        </p:txBody>
      </p:sp>
      <p:sp>
        <p:nvSpPr>
          <p:cNvPr id="10" name="Prompts"/>
          <p:cNvSpPr txBox="1"/>
          <p:nvPr/>
        </p:nvSpPr>
        <p:spPr>
          <a:xfrm>
            <a:off x="834963" y="1926309"/>
            <a:ext cx="10424160" cy="1645920"/>
          </a:xfrm>
          <a:prstGeom prst="rect">
            <a:avLst/>
          </a:prstGeom>
          <a:noFill/>
          <a:ln/>
        </p:spPr>
        <p:txBody>
          <a:bodyPr wrap="square" lIns="0" tIns="0" rIns="0" bIns="0" rtlCol="0" anchor="t"/>
          <a:lstStyle/>
          <a:p>
            <a:r>
              <a:rPr lang="en-US" b="1">
                <a:ea typeface="+mn-lt"/>
                <a:cs typeface="+mn-lt"/>
              </a:rPr>
              <a:t>What our team Intends to do :</a:t>
            </a:r>
            <a:endParaRPr lang="en-US" b="1">
              <a:ea typeface="Calibri"/>
              <a:cs typeface="Calibri"/>
            </a:endParaRPr>
          </a:p>
          <a:p>
            <a:endParaRPr lang="en-US"/>
          </a:p>
          <a:p>
            <a:r>
              <a:rPr lang="en-US">
                <a:ea typeface="+mn-lt"/>
                <a:cs typeface="+mn-lt"/>
              </a:rPr>
              <a:t>Our team wants to create a privacy first app that works on both phones and PC. This app will use on device </a:t>
            </a:r>
            <a:r>
              <a:rPr lang="en-US" dirty="0">
                <a:ea typeface="+mn-lt"/>
                <a:cs typeface="+mn-lt"/>
              </a:rPr>
              <a:t>edge AI to transcribe and index WhatsApp voice notes into a local database. The app will not use any servers at all.</a:t>
            </a:r>
            <a:endParaRPr lang="en-US" dirty="0"/>
          </a:p>
          <a:p>
            <a:endParaRPr lang="en-US"/>
          </a:p>
          <a:p>
            <a:r>
              <a:rPr lang="en-US" b="1">
                <a:ea typeface="+mn-lt"/>
                <a:cs typeface="+mn-lt"/>
              </a:rPr>
              <a:t>What we want to improve :</a:t>
            </a:r>
            <a:endParaRPr lang="en-US" b="1">
              <a:ea typeface="Calibri"/>
              <a:cs typeface="Calibri"/>
            </a:endParaRPr>
          </a:p>
          <a:p>
            <a:endParaRPr lang="en-US"/>
          </a:p>
          <a:p>
            <a:r>
              <a:rPr lang="en-US">
                <a:ea typeface="+mn-lt"/>
                <a:cs typeface="+mn-lt"/>
              </a:rPr>
              <a:t>We want to cut the time wasted when listening to long voice notes. The app will turn unsearchable audio files into text that can be searched instantly. The app will keep 100 % user data privacy.</a:t>
            </a:r>
            <a:endParaRPr lang="en-US"/>
          </a:p>
          <a:p>
            <a:endParaRPr lang="en-US"/>
          </a:p>
          <a:p>
            <a:r>
              <a:rPr lang="en-US" b="1">
                <a:ea typeface="+mn-lt"/>
                <a:cs typeface="+mn-lt"/>
              </a:rPr>
              <a:t>What success looks like :</a:t>
            </a:r>
            <a:endParaRPr lang="en-US" b="1">
              <a:ea typeface="Calibri"/>
              <a:cs typeface="Calibri"/>
            </a:endParaRPr>
          </a:p>
          <a:p>
            <a:endParaRPr lang="en-US"/>
          </a:p>
          <a:p>
            <a:pPr>
              <a:spcAft>
                <a:spcPts val="1000"/>
              </a:spcAft>
            </a:pPr>
            <a:r>
              <a:rPr lang="en-US" dirty="0">
                <a:ea typeface="+mn-lt"/>
                <a:cs typeface="+mn-lt"/>
              </a:rPr>
              <a:t>Success means giving users a offline search bar. A user can type a keyword find the matching voice note, from their history and jump straight to the exact second that word was spoken. All of this happens locally with no internet or third party API needed.</a:t>
            </a: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extLst>
      <p:ext uri="{BB962C8B-B14F-4D97-AF65-F5344CB8AC3E}">
        <p14:creationId xmlns:p14="http://schemas.microsoft.com/office/powerpoint/2010/main" val="1553568327"/>
      </p:ext>
    </p:extLst>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revision>244</cp:revision>
  <dcterms:created xsi:type="dcterms:W3CDTF">2026-10-07T15:27:40Z</dcterms:created>
  <dcterms:modified xsi:type="dcterms:W3CDTF">2026-10-09T14:29:07Z</dcterms:modified>
</cp:coreProperties>
</file>